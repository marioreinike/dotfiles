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1" r:id="rId12"/>
    <p:sldId id="291" r:id="rId24"/>
    <p:sldId id="277" r:id="rId28"/>
    <p:sldId id="290" r:id="rId41"/>
  </p:sldIdLst>
  <p:sldSz cy="5143500" cx="9144000"/>
  <p:notesSz cx="6858000" cy="9144000"/>
  <p:embeddedFontLst>
    <p:embeddedFont>
      <p:font typeface="Plus Jakarta Sans ExtraBold"/>
      <p:bold r:id="rId50"/>
      <p:boldItalic r:id="rId51"/>
    </p:embeddedFont>
    <p:embeddedFont>
      <p:font typeface="Plus Jakarta Sans"/>
      <p:regular r:id="rId52"/>
      <p:bold r:id="rId53"/>
      <p:italic r:id="rId54"/>
      <p:boldItalic r:id="rId55"/>
    </p:embeddedFont>
    <p:embeddedFont>
      <p:font typeface="Plus Jakarta Sans SemiBold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24" Type="http://schemas.openxmlformats.org/officeDocument/2006/relationships/slide" Target="slides/slide8.xml"/><Relationship Id="rId28" Type="http://schemas.openxmlformats.org/officeDocument/2006/relationships/slide" Target="slides/slide22.xml"/><Relationship Id="rId41" Type="http://schemas.openxmlformats.org/officeDocument/2006/relationships/slide" Target="slides/slide35.xml"/><Relationship Id="rId50" Type="http://schemas.openxmlformats.org/officeDocument/2006/relationships/font" Target="fonts/PlusJakartaSansExtraBold-bold.fntdata"/><Relationship Id="rId51" Type="http://schemas.openxmlformats.org/officeDocument/2006/relationships/font" Target="fonts/PlusJakartaSansExtraBold-boldItalic.fntdata"/><Relationship Id="rId52" Type="http://schemas.openxmlformats.org/officeDocument/2006/relationships/font" Target="fonts/PlusJakartaSans-regular.fntdata"/><Relationship Id="rId53" Type="http://schemas.openxmlformats.org/officeDocument/2006/relationships/font" Target="fonts/PlusJakartaSans-bold.fntdata"/><Relationship Id="rId54" Type="http://schemas.openxmlformats.org/officeDocument/2006/relationships/font" Target="fonts/PlusJakartaSans-italic.fntdata"/><Relationship Id="rId55" Type="http://schemas.openxmlformats.org/officeDocument/2006/relationships/font" Target="fonts/PlusJakartaSans-boldItalic.fntdata"/><Relationship Id="rId56" Type="http://schemas.openxmlformats.org/officeDocument/2006/relationships/font" Target="fonts/PlusJakartaSansSemiBold-regular.fntdata"/><Relationship Id="rId57" Type="http://schemas.openxmlformats.org/officeDocument/2006/relationships/font" Target="fonts/PlusJakartaSansSemiBold-bold.fntdata"/><Relationship Id="rId58" Type="http://schemas.openxmlformats.org/officeDocument/2006/relationships/font" Target="fonts/PlusJakartaSansSemiBold-italic.fntdata"/><Relationship Id="rId59" Type="http://schemas.openxmlformats.org/officeDocument/2006/relationships/font" Target="fonts/PlusJakartaSa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1603f444_1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ed1603f444_1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9" name="Google Shape;59;g3ed1603f444_1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d1603f444_1_1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ed1603f444_1_1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75" name="Google Shape;75;g3ed1603f444_1_1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1603f444_1_5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d1603f444_1_5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07" name="Google Shape;107;g3ed1603f444_1_5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d1603f444_1_6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ed1603f444_1_6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8" name="Google Shape;118;g3ed1603f444_1_6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1603f444_1_11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ed1603f444_1_11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5" name="Google Shape;175;g3ed1603f444_1_11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ed1603f444_1_59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ed1603f444_1_59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68" name="Google Shape;668;g3ed1603f444_1_59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ed1603f444_1_89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7" name="Google Shape;967;g3ed1603f444_1_89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968" name="Google Shape;968;g3ed1603f444_1_89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1F5FF"/>
            </a:gs>
            <a:gs pos="100000">
              <a:srgbClr val="D6E3FC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1F5FF"/>
            </a:gs>
            <a:gs pos="100000">
              <a:srgbClr val="D6E3FC"/>
            </a:gs>
          </a:gsLst>
          <a:lin ang="5400012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0E1E"/>
            </a:gs>
            <a:gs pos="100000">
              <a:srgbClr val="14336F"/>
            </a:gs>
          </a:gsLst>
          <a:lin ang="5400012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10826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/>
          <p:nvPr/>
        </p:nvSpPr>
        <p:spPr>
          <a:xfrm>
            <a:off x="571500" y="1401143"/>
            <a:ext cx="82410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79CEC"/>
              </a:buClr>
              <a:buSzPts val="9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COMERCIAL ·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571500" y="1784000"/>
            <a:ext cx="56283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00"/>
              <a:buFont typeface="Plus Jakarta Sans"/>
              <a:buNone/>
            </a:pPr>
            <a:r>
              <a:rPr b="1" i="0" lang="en" sz="4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Vende más, conversando</a:t>
            </a:r>
            <a:r>
              <a:rPr b="1" i="1" lang="en" sz="49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/>
            </a:r>
            <a:r>
              <a:rPr b="1" i="0" lang="en" sz="4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/>
            </a:r>
            <a:endParaRPr b="0" i="0" sz="4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571500" y="3142208"/>
            <a:ext cx="510159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us Jakarta Sans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Cómo Clínica Aurora puede automatizar agendamiento y reactivación con Vambe.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71500" y="4348163"/>
            <a:ext cx="129934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"/>
              <a:buNone/>
            </a:pPr>
            <a:r>
              <a:rPr b="1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PRESENTADO POR</a:t>
            </a:r>
            <a:endParaRPr b="0" i="0" sz="9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71500" y="4529138"/>
            <a:ext cx="1299344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Francisca Ibáñez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2261369" y="4348163"/>
            <a:ext cx="79251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"/>
              <a:buNone/>
            </a:pPr>
            <a:r>
              <a:rPr b="1" lang="en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2261378" y="4529150"/>
            <a:ext cx="11817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PinMedia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3444404" y="4348163"/>
            <a:ext cx="61852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"/>
              <a:buNone/>
            </a:pPr>
            <a:r>
              <a:rPr b="1" lang="en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FECHA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444397" y="4529150"/>
            <a:ext cx="11817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Mayo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576" y="504558"/>
            <a:ext cx="4511149" cy="41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571500" y="457200"/>
            <a:ext cx="8241030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9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437AE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71500" y="725798"/>
            <a:ext cx="8241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2800"/>
              <a:buFont typeface="Plus Jakarta Sans"/>
              <a:buNone/>
            </a:pPr>
            <a:r>
              <a:rPr i="0" lang="en" sz="2800" u="none" cap="none" strike="noStrike">
                <a:solidFill>
                  <a:srgbClr val="02061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 que veremos hoy</a:t>
            </a:r>
            <a:endParaRPr i="0" sz="28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71500" y="2527399"/>
            <a:ext cx="3786188" cy="47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571500" y="2082329"/>
            <a:ext cx="419100" cy="2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2100"/>
              <a:buFont typeface="Plus Jakarta Sans"/>
              <a:buNone/>
            </a:pPr>
            <a:r>
              <a:rPr i="0" lang="en" sz="21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01</a:t>
            </a:r>
            <a:endParaRPr i="0" sz="21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085850" y="2020193"/>
            <a:ext cx="18389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y oportunidad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085850" y="2239268"/>
            <a:ext cx="183890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Breve descripción del punto.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786313" y="2527399"/>
            <a:ext cx="3786188" cy="47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4786313" y="2082329"/>
            <a:ext cx="419100" cy="2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2100"/>
              <a:buFont typeface="Plus Jakarta Sans"/>
              <a:buNone/>
            </a:pPr>
            <a:r>
              <a:rPr i="0" lang="en" sz="21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02</a:t>
            </a:r>
            <a:endParaRPr i="0" sz="21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300663" y="2020193"/>
            <a:ext cx="15991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solución Vambe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300663" y="2239268"/>
            <a:ext cx="159911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Breve descripción del punto.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571500" y="3182243"/>
            <a:ext cx="3786188" cy="47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71500" y="2737173"/>
            <a:ext cx="419100" cy="2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2100"/>
              <a:buFont typeface="Plus Jakarta Sans"/>
              <a:buNone/>
            </a:pPr>
            <a:r>
              <a:rPr i="0" lang="en" sz="21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03</a:t>
            </a:r>
            <a:endParaRPr i="0" sz="21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085850" y="2675037"/>
            <a:ext cx="15991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085850" y="2894112"/>
            <a:ext cx="159911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Breve descripción del punto.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786313" y="3182243"/>
            <a:ext cx="3786188" cy="476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4786313" y="2737173"/>
            <a:ext cx="419100" cy="2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2100"/>
              <a:buFont typeface="Plus Jakarta Sans"/>
              <a:buNone/>
            </a:pPr>
            <a:r>
              <a:rPr i="0" lang="en" sz="21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04</a:t>
            </a:r>
            <a:endParaRPr i="0" sz="21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300663" y="2675037"/>
            <a:ext cx="15991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y casos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300663" y="2894112"/>
            <a:ext cx="159911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Breve descripción del punto.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571500" y="3392016"/>
            <a:ext cx="419100" cy="2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2100"/>
              <a:buFont typeface="Plus Jakarta Sans"/>
              <a:buNone/>
            </a:pPr>
            <a:r>
              <a:rPr i="0" lang="en" sz="21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05</a:t>
            </a:r>
            <a:endParaRPr i="0" sz="21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085850" y="3329881"/>
            <a:ext cx="172278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e implementación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1085850" y="3548956"/>
            <a:ext cx="1722783" cy="1643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Breve descripción del punto.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786313" y="3392016"/>
            <a:ext cx="419100" cy="25907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2100"/>
              <a:buFont typeface="Plus Jakarta Sans"/>
              <a:buNone/>
            </a:pPr>
            <a:r>
              <a:rPr i="0" lang="en" sz="21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06</a:t>
            </a:r>
            <a:endParaRPr i="0" sz="21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300663" y="3329881"/>
            <a:ext cx="15991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Plus Jakarta Sans"/>
              <a:buNone/>
            </a:pPr>
            <a:r>
              <a:rPr b="1" i="0" lang="en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Próximos pasos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5300663" y="3548956"/>
            <a:ext cx="1599114" cy="1643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Breve descripción del punto.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67263"/>
            <a:ext cx="664369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8466200" y="4777978"/>
            <a:ext cx="144401" cy="1262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Plus Jakarta Sans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541" y="-176200"/>
            <a:ext cx="2762920" cy="253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0E1E"/>
            </a:gs>
            <a:gs pos="100000">
              <a:srgbClr val="14336F"/>
            </a:gs>
          </a:gsLst>
          <a:lin ang="5400012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571500" y="2003115"/>
            <a:ext cx="1530477" cy="9848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7FA4F4"/>
              </a:buClr>
              <a:buSzPts val="9800"/>
              <a:buFont typeface="Plus Jakarta Sans"/>
              <a:buNone/>
            </a:pPr>
            <a:r>
              <a:rPr b="1" i="0" lang="en" sz="9800" u="none" cap="none" strike="noStrike">
                <a:solidFill>
                  <a:srgbClr val="7FA4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 b="0" i="0" sz="9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2343150" y="1910060"/>
            <a:ext cx="9525" cy="1151929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2638425" y="1910060"/>
            <a:ext cx="3728085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79CEC"/>
              </a:buClr>
              <a:buSzPts val="9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SECCIÓN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638425" y="2169133"/>
            <a:ext cx="3728085" cy="3785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us Jakarta Sans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contexto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2638425" y="2633365"/>
            <a:ext cx="372808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us Jakarta Sans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línea que adelanta de qué trata esta parte.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750" y="2371423"/>
            <a:ext cx="3175801" cy="2910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571500" y="457200"/>
            <a:ext cx="8241030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9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437AE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571500" y="725798"/>
            <a:ext cx="6376988" cy="3785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2800"/>
              <a:buFont typeface="Plus Jakarta Sans"/>
              <a:buNone/>
            </a:pPr>
            <a:r>
              <a:rPr i="0" lang="en" sz="2800" u="none" cap="none" strike="noStrike">
                <a:solidFill>
                  <a:srgbClr val="02061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 título claro que enmarca la idea</a:t>
            </a:r>
            <a:endParaRPr i="0" sz="28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571500" y="1561504"/>
            <a:ext cx="3314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Plus Jakarta Sans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 esta columna para introducir el tema con una o dos frases de contexto antes de entrar a los puntos clave.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71500" y="2560179"/>
            <a:ext cx="3218400" cy="273900"/>
          </a:xfrm>
          <a:prstGeom prst="roundRect">
            <a:avLst>
              <a:gd fmla="val 50000" name="adj"/>
            </a:avLst>
          </a:prstGeom>
          <a:noFill/>
          <a:ln cap="flat" cmpd="sng" w="14275">
            <a:solidFill>
              <a:srgbClr val="437A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692944" y="2624472"/>
            <a:ext cx="3072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9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437AE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Idea de apoyo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551760" y="1561504"/>
            <a:ext cx="2314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Primer punto destacado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51760" y="1759149"/>
            <a:ext cx="23145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de apoyo en una o dos líneas.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551760" y="2090142"/>
            <a:ext cx="2314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Segundo punto destacado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551760" y="2287786"/>
            <a:ext cx="23145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de apoyo en una o dos líneas.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551760" y="2618780"/>
            <a:ext cx="2314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Tercer punto destacado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4551760" y="2816424"/>
            <a:ext cx="23145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de apoyo en una o dos líneas.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551760" y="3147417"/>
            <a:ext cx="2314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Cuarto punto destacado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551760" y="3345061"/>
            <a:ext cx="23145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Plus Jakarta Sans"/>
              <a:buNone/>
            </a:pPr>
            <a:r>
              <a:rPr b="0" i="0" lang="en" sz="9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Descripción de apoyo en una o dos líneas.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67263"/>
            <a:ext cx="664369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8466201" y="4777975"/>
            <a:ext cx="390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Plus Jakarta Sans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19"/>
          <p:cNvGrpSpPr/>
          <p:nvPr/>
        </p:nvGrpSpPr>
        <p:grpSpPr>
          <a:xfrm>
            <a:off x="4218383" y="1589563"/>
            <a:ext cx="219066" cy="219061"/>
            <a:chOff x="3803891" y="1700784"/>
            <a:chExt cx="1536228" cy="1536192"/>
          </a:xfrm>
        </p:grpSpPr>
        <p:sp>
          <p:nvSpPr>
            <p:cNvPr id="136" name="Google Shape;136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h="4800" w="4800">
                  <a:moveTo>
                    <a:pt x="500" y="0"/>
                  </a:moveTo>
                  <a:lnTo>
                    <a:pt x="4300" y="0"/>
                  </a:lnTo>
                  <a:cubicBezTo>
                    <a:pt x="4576" y="0"/>
                    <a:pt x="4800" y="224"/>
                    <a:pt x="4800" y="500"/>
                  </a:cubicBezTo>
                  <a:lnTo>
                    <a:pt x="4800" y="4300"/>
                  </a:lnTo>
                  <a:cubicBezTo>
                    <a:pt x="4800" y="4576"/>
                    <a:pt x="4576" y="4800"/>
                    <a:pt x="4300" y="4800"/>
                  </a:cubicBezTo>
                  <a:lnTo>
                    <a:pt x="500" y="4800"/>
                  </a:lnTo>
                  <a:cubicBezTo>
                    <a:pt x="224" y="4800"/>
                    <a:pt x="0" y="4576"/>
                    <a:pt x="0" y="43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solidFill>
              <a:srgbClr val="437AEF"/>
            </a:solidFill>
            <a:ln>
              <a:noFill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fill="none" h="4800" w="4800">
                  <a:moveTo>
                    <a:pt x="1300" y="2300"/>
                  </a:moveTo>
                  <a:lnTo>
                    <a:pt x="2072" y="3200"/>
                  </a:lnTo>
                  <a:lnTo>
                    <a:pt x="3500" y="1400"/>
                  </a:lnTo>
                </a:path>
              </a:pathLst>
            </a:custGeom>
            <a:noFill/>
            <a:ln cap="rnd" cmpd="sng" w="13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9"/>
          <p:cNvGrpSpPr/>
          <p:nvPr/>
        </p:nvGrpSpPr>
        <p:grpSpPr>
          <a:xfrm>
            <a:off x="4218383" y="2130538"/>
            <a:ext cx="219066" cy="219061"/>
            <a:chOff x="3803891" y="1700784"/>
            <a:chExt cx="1536228" cy="1536192"/>
          </a:xfrm>
        </p:grpSpPr>
        <p:sp>
          <p:nvSpPr>
            <p:cNvPr id="139" name="Google Shape;139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h="4800" w="4800">
                  <a:moveTo>
                    <a:pt x="500" y="0"/>
                  </a:moveTo>
                  <a:lnTo>
                    <a:pt x="4300" y="0"/>
                  </a:lnTo>
                  <a:cubicBezTo>
                    <a:pt x="4576" y="0"/>
                    <a:pt x="4800" y="224"/>
                    <a:pt x="4800" y="500"/>
                  </a:cubicBezTo>
                  <a:lnTo>
                    <a:pt x="4800" y="4300"/>
                  </a:lnTo>
                  <a:cubicBezTo>
                    <a:pt x="4800" y="4576"/>
                    <a:pt x="4576" y="4800"/>
                    <a:pt x="4300" y="4800"/>
                  </a:cubicBezTo>
                  <a:lnTo>
                    <a:pt x="500" y="4800"/>
                  </a:lnTo>
                  <a:cubicBezTo>
                    <a:pt x="224" y="4800"/>
                    <a:pt x="0" y="4576"/>
                    <a:pt x="0" y="43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solidFill>
              <a:srgbClr val="437AEF"/>
            </a:solidFill>
            <a:ln>
              <a:noFill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fill="none" h="4800" w="4800">
                  <a:moveTo>
                    <a:pt x="1300" y="2300"/>
                  </a:moveTo>
                  <a:lnTo>
                    <a:pt x="2072" y="3200"/>
                  </a:lnTo>
                  <a:lnTo>
                    <a:pt x="3500" y="1400"/>
                  </a:lnTo>
                </a:path>
              </a:pathLst>
            </a:custGeom>
            <a:noFill/>
            <a:ln cap="rnd" cmpd="sng" w="13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4218383" y="2671513"/>
            <a:ext cx="219066" cy="219061"/>
            <a:chOff x="3803891" y="1700784"/>
            <a:chExt cx="1536228" cy="1536192"/>
          </a:xfrm>
        </p:grpSpPr>
        <p:sp>
          <p:nvSpPr>
            <p:cNvPr id="142" name="Google Shape;142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h="4800" w="4800">
                  <a:moveTo>
                    <a:pt x="500" y="0"/>
                  </a:moveTo>
                  <a:lnTo>
                    <a:pt x="4300" y="0"/>
                  </a:lnTo>
                  <a:cubicBezTo>
                    <a:pt x="4576" y="0"/>
                    <a:pt x="4800" y="224"/>
                    <a:pt x="4800" y="500"/>
                  </a:cubicBezTo>
                  <a:lnTo>
                    <a:pt x="4800" y="4300"/>
                  </a:lnTo>
                  <a:cubicBezTo>
                    <a:pt x="4800" y="4576"/>
                    <a:pt x="4576" y="4800"/>
                    <a:pt x="4300" y="4800"/>
                  </a:cubicBezTo>
                  <a:lnTo>
                    <a:pt x="500" y="4800"/>
                  </a:lnTo>
                  <a:cubicBezTo>
                    <a:pt x="224" y="4800"/>
                    <a:pt x="0" y="4576"/>
                    <a:pt x="0" y="43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solidFill>
              <a:srgbClr val="437AEF"/>
            </a:solidFill>
            <a:ln>
              <a:noFill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fill="none" h="4800" w="4800">
                  <a:moveTo>
                    <a:pt x="1300" y="2300"/>
                  </a:moveTo>
                  <a:lnTo>
                    <a:pt x="2072" y="3200"/>
                  </a:lnTo>
                  <a:lnTo>
                    <a:pt x="3500" y="1400"/>
                  </a:lnTo>
                </a:path>
              </a:pathLst>
            </a:custGeom>
            <a:noFill/>
            <a:ln cap="rnd" cmpd="sng" w="13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9"/>
          <p:cNvGrpSpPr/>
          <p:nvPr/>
        </p:nvGrpSpPr>
        <p:grpSpPr>
          <a:xfrm>
            <a:off x="4218383" y="3184738"/>
            <a:ext cx="219066" cy="219061"/>
            <a:chOff x="3803891" y="1700784"/>
            <a:chExt cx="1536228" cy="1536192"/>
          </a:xfrm>
        </p:grpSpPr>
        <p:sp>
          <p:nvSpPr>
            <p:cNvPr id="145" name="Google Shape;145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h="4800" w="4800">
                  <a:moveTo>
                    <a:pt x="500" y="0"/>
                  </a:moveTo>
                  <a:lnTo>
                    <a:pt x="4300" y="0"/>
                  </a:lnTo>
                  <a:cubicBezTo>
                    <a:pt x="4576" y="0"/>
                    <a:pt x="4800" y="224"/>
                    <a:pt x="4800" y="500"/>
                  </a:cubicBezTo>
                  <a:lnTo>
                    <a:pt x="4800" y="4300"/>
                  </a:lnTo>
                  <a:cubicBezTo>
                    <a:pt x="4800" y="4576"/>
                    <a:pt x="4576" y="4800"/>
                    <a:pt x="4300" y="4800"/>
                  </a:cubicBezTo>
                  <a:lnTo>
                    <a:pt x="500" y="4800"/>
                  </a:lnTo>
                  <a:cubicBezTo>
                    <a:pt x="224" y="4800"/>
                    <a:pt x="0" y="4576"/>
                    <a:pt x="0" y="4300"/>
                  </a:cubicBezTo>
                  <a:lnTo>
                    <a:pt x="0" y="500"/>
                  </a:lnTo>
                  <a:cubicBezTo>
                    <a:pt x="0" y="224"/>
                    <a:pt x="224" y="0"/>
                    <a:pt x="500" y="0"/>
                  </a:cubicBezTo>
                  <a:close/>
                </a:path>
              </a:pathLst>
            </a:custGeom>
            <a:solidFill>
              <a:srgbClr val="437AEF"/>
            </a:solidFill>
            <a:ln>
              <a:noFill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803891" y="1700784"/>
              <a:ext cx="1536228" cy="1536192"/>
            </a:xfrm>
            <a:custGeom>
              <a:rect b="b" l="l" r="r" t="t"/>
              <a:pathLst>
                <a:path extrusionOk="0" fill="none" h="4800" w="4800">
                  <a:moveTo>
                    <a:pt x="1300" y="2300"/>
                  </a:moveTo>
                  <a:lnTo>
                    <a:pt x="2072" y="3200"/>
                  </a:lnTo>
                  <a:lnTo>
                    <a:pt x="3500" y="1400"/>
                  </a:lnTo>
                </a:path>
              </a:pathLst>
            </a:custGeom>
            <a:noFill/>
            <a:ln cap="rnd" cmpd="sng" w="13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900" lIns="9775" spcFirstLastPara="1" rIns="9775" wrap="square" tIns="4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>
            <a:off x="4800600" y="3365162"/>
            <a:ext cx="3771900" cy="698700"/>
          </a:xfrm>
          <a:prstGeom prst="roundRect">
            <a:avLst>
              <a:gd fmla="val 7207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4800600" y="2522162"/>
            <a:ext cx="3771900" cy="698700"/>
          </a:xfrm>
          <a:prstGeom prst="roundRect">
            <a:avLst>
              <a:gd fmla="val 7207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800600" y="1688499"/>
            <a:ext cx="3771900" cy="698700"/>
          </a:xfrm>
          <a:prstGeom prst="roundRect">
            <a:avLst>
              <a:gd fmla="val 7207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71500" y="457200"/>
            <a:ext cx="8241030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9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437AE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NÚMEROS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71500" y="725798"/>
            <a:ext cx="8241030" cy="3785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20617"/>
              </a:buClr>
              <a:buSzPts val="2800"/>
              <a:buFont typeface="Plus Jakarta Sans"/>
              <a:buNone/>
            </a:pPr>
            <a:r>
              <a:rPr i="0" lang="en" sz="2800" u="none" cap="none" strike="noStrike">
                <a:solidFill>
                  <a:srgbClr val="02061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El impacto, en una cifra</a:t>
            </a:r>
            <a:endParaRPr i="0" sz="28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1945184"/>
            <a:ext cx="4094724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7AEF"/>
              </a:buClr>
              <a:buSzPts val="11300"/>
              <a:buFont typeface="Plus Jakarta Sans"/>
              <a:buNone/>
            </a:pPr>
            <a:r>
              <a:rPr i="0" lang="en" sz="113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3.2x</a:t>
            </a:r>
            <a:r>
              <a:rPr i="0" lang="en" sz="5200" u="none" cap="none" strike="noStrike">
                <a:solidFill>
                  <a:srgbClr val="437AE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/>
            </a:r>
            <a:endParaRPr i="0" sz="113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71500" y="3364409"/>
            <a:ext cx="274701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Plus Jakarta Sans"/>
              <a:buNone/>
            </a:pPr>
            <a:r>
              <a:rPr b="1" i="0" lang="en" sz="14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más citas confirmadas en el primer 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204185" y="2447628"/>
            <a:ext cx="3597000" cy="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947808" y="1752300"/>
            <a:ext cx="1646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500"/>
              <a:buFont typeface="Plus Jakarta Sans"/>
              <a:buNone/>
            </a:pPr>
            <a:r>
              <a:rPr i="0" lang="en" sz="35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−68%</a:t>
            </a:r>
            <a:endParaRPr i="0" sz="35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6413850" y="1702086"/>
            <a:ext cx="1746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Plus Jakarta Sans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de primera respuesta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204185" y="3290590"/>
            <a:ext cx="3597000" cy="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056491" y="2606088"/>
            <a:ext cx="1273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500"/>
              <a:buFont typeface="Plus Jakarta Sans"/>
              <a:buNone/>
            </a:pPr>
            <a:r>
              <a:rPr i="0" lang="en" sz="35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24/7</a:t>
            </a:r>
            <a:endParaRPr i="0" sz="35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413850" y="2522154"/>
            <a:ext cx="15642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Plus Jakarta Sans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disponibilidad sin esperas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947820" y="3438226"/>
            <a:ext cx="1494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500"/>
              <a:buFont typeface="Plus Jakarta Sans"/>
              <a:buNone/>
            </a:pPr>
            <a:r>
              <a:rPr i="0" lang="en" sz="35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+40%</a:t>
            </a:r>
            <a:endParaRPr i="0" sz="35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490050" y="3346491"/>
            <a:ext cx="20361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Plus Jakarta Sans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conversión sobre leads atendidos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67263"/>
            <a:ext cx="664369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8466200" y="4777978"/>
            <a:ext cx="144401" cy="1262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Plus Jakarta Sans"/>
              <a:buNone/>
            </a:pPr>
            <a:r>
              <a:rPr b="1" i="0" lang="en" sz="7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C0E1E"/>
            </a:gs>
            <a:gs pos="100000">
              <a:srgbClr val="14336F"/>
            </a:gs>
          </a:gsLst>
          <a:lin ang="5400012" scaled="0"/>
        </a:gradFill>
      </p:bgPr>
    </p:bg>
    <p:spTree>
      <p:nvGrpSpPr>
        <p:cNvPr id="1" name=""/>
        <p:cNvGrpSpPr/>
        <p:nvPr/>
      </p:nvGrpSpPr>
      <p:grpSpPr/>
      <p:sp>
        <p:nvSpPr>
          <p:cNvPr id="109" name="Google Shape;109;p18"/>
          <p:cNvSpPr/>
          <p:nvPr/>
        </p:nvSpPr>
        <p:spPr>
          <a:xfrm>
            <a:off x="571500" y="2003115"/>
            <a:ext cx="1530477" cy="9848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7FA4F4"/>
              </a:buClr>
              <a:buSzPts val="9800"/>
              <a:buFont typeface="Plus Jakarta Sans"/>
              <a:buNone/>
            </a:pPr>
            <a:r>
              <a:rPr b="1" i="0" lang="en" sz="9800" u="none" cap="none" strike="noStrike">
                <a:solidFill>
                  <a:srgbClr val="7FA4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 b="0" i="0" sz="9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2343150" y="1910060"/>
            <a:ext cx="9525" cy="1151929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2638425" y="1910060"/>
            <a:ext cx="3728085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79CEC"/>
              </a:buClr>
              <a:buSzPts val="9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SECCIÓN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638425" y="2169133"/>
            <a:ext cx="3728085" cy="3785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us Jakarta Sans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impacto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2638425" y="2633365"/>
            <a:ext cx="372808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us Jakarta Sans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línea que adelanta de qué trata esta parte.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77750" y="2371423"/>
            <a:ext cx="3175801" cy="2910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0E1E"/>
            </a:gs>
            <a:gs pos="100000">
              <a:srgbClr val="14336F"/>
            </a:gs>
          </a:gsLst>
          <a:lin ang="5400012" scaled="0"/>
        </a:gra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0" name="Google Shape;670;p37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6667500" y="2906799"/>
            <a:ext cx="3238500" cy="2903451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7"/>
          <p:cNvSpPr/>
          <p:nvPr/>
        </p:nvSpPr>
        <p:spPr>
          <a:xfrm>
            <a:off x="571500" y="457200"/>
            <a:ext cx="8241030" cy="20192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779CEC"/>
              </a:buClr>
              <a:buSzPts val="900"/>
              <a:buFont typeface="Plus Jakarta Sans"/>
              <a:buNone/>
            </a:pPr>
            <a:r>
              <a:rPr b="1" i="0" lang="en" sz="11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EN MÉTRICAS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7"/>
          <p:cNvSpPr/>
          <p:nvPr/>
        </p:nvSpPr>
        <p:spPr>
          <a:xfrm>
            <a:off x="571500" y="725798"/>
            <a:ext cx="6867525" cy="3785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us Jakarta Sans"/>
              <a:buNone/>
            </a:pPr>
            <a:r>
              <a:rPr i="0" lang="en" sz="2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Los números </a:t>
            </a:r>
            <a:r>
              <a:rPr i="1" lang="en" sz="2800" u="none" cap="none" strike="noStrike">
                <a:solidFill>
                  <a:srgbClr val="779CE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hablan por sí mismos</a:t>
            </a:r>
            <a:endParaRPr i="0" sz="2800" u="none" cap="none" strike="noStrike">
              <a:solidFill>
                <a:schemeClr val="dk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673" name="Google Shape;673;p37"/>
          <p:cNvSpPr/>
          <p:nvPr/>
        </p:nvSpPr>
        <p:spPr>
          <a:xfrm>
            <a:off x="571500" y="1313855"/>
            <a:ext cx="2584438" cy="1538585"/>
          </a:xfrm>
          <a:prstGeom prst="roundRect">
            <a:avLst>
              <a:gd fmla="val 8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7"/>
          <p:cNvSpPr/>
          <p:nvPr/>
        </p:nvSpPr>
        <p:spPr>
          <a:xfrm>
            <a:off x="757238" y="1796728"/>
            <a:ext cx="2279352" cy="387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+39</a:t>
            </a:r>
            <a:r>
              <a:rPr b="1" i="0" lang="en" sz="1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7"/>
          <p:cNvSpPr/>
          <p:nvPr/>
        </p:nvSpPr>
        <p:spPr>
          <a:xfrm>
            <a:off x="785252" y="2240382"/>
            <a:ext cx="2279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7"/>
          <p:cNvSpPr/>
          <p:nvPr/>
        </p:nvSpPr>
        <p:spPr>
          <a:xfrm>
            <a:off x="3279763" y="1313855"/>
            <a:ext cx="2584438" cy="1538585"/>
          </a:xfrm>
          <a:prstGeom prst="roundRect">
            <a:avLst>
              <a:gd fmla="val 8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7"/>
          <p:cNvSpPr/>
          <p:nvPr/>
        </p:nvSpPr>
        <p:spPr>
          <a:xfrm>
            <a:off x="3465500" y="1796728"/>
            <a:ext cx="2279352" cy="387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r>
              <a:rPr b="1" i="0" lang="en" sz="1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×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3493515" y="2240382"/>
            <a:ext cx="2279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capacidad de un ejecutivo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7"/>
          <p:cNvSpPr/>
          <p:nvPr/>
        </p:nvSpPr>
        <p:spPr>
          <a:xfrm>
            <a:off x="5988025" y="1313855"/>
            <a:ext cx="2584475" cy="1538585"/>
          </a:xfrm>
          <a:prstGeom prst="roundRect">
            <a:avLst>
              <a:gd fmla="val 8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7"/>
          <p:cNvSpPr/>
          <p:nvPr/>
        </p:nvSpPr>
        <p:spPr>
          <a:xfrm>
            <a:off x="6173763" y="1796728"/>
            <a:ext cx="2279390" cy="387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−70</a:t>
            </a:r>
            <a:r>
              <a:rPr b="1" i="0" lang="en" sz="1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6201777" y="2240382"/>
            <a:ext cx="2279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administrativo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571500" y="2976265"/>
            <a:ext cx="2584438" cy="1538585"/>
          </a:xfrm>
          <a:prstGeom prst="roundRect">
            <a:avLst>
              <a:gd fmla="val 8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7"/>
          <p:cNvSpPr/>
          <p:nvPr/>
        </p:nvSpPr>
        <p:spPr>
          <a:xfrm>
            <a:off x="757238" y="3459138"/>
            <a:ext cx="2279352" cy="387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99,95</a:t>
            </a: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7"/>
          <p:cNvSpPr/>
          <p:nvPr/>
        </p:nvSpPr>
        <p:spPr>
          <a:xfrm>
            <a:off x="785252" y="3902792"/>
            <a:ext cx="2279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uptime garantizado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7"/>
          <p:cNvSpPr/>
          <p:nvPr/>
        </p:nvSpPr>
        <p:spPr>
          <a:xfrm>
            <a:off x="3279763" y="2976265"/>
            <a:ext cx="2584438" cy="1538585"/>
          </a:xfrm>
          <a:prstGeom prst="roundRect">
            <a:avLst>
              <a:gd fmla="val 8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7"/>
          <p:cNvSpPr/>
          <p:nvPr/>
        </p:nvSpPr>
        <p:spPr>
          <a:xfrm>
            <a:off x="3465500" y="3459138"/>
            <a:ext cx="2279352" cy="387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+2.000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7"/>
          <p:cNvSpPr/>
          <p:nvPr/>
        </p:nvSpPr>
        <p:spPr>
          <a:xfrm>
            <a:off x="3493515" y="3902792"/>
            <a:ext cx="2279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clientes activos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7"/>
          <p:cNvSpPr/>
          <p:nvPr/>
        </p:nvSpPr>
        <p:spPr>
          <a:xfrm>
            <a:off x="5988025" y="2976265"/>
            <a:ext cx="2584475" cy="1538585"/>
          </a:xfrm>
          <a:prstGeom prst="roundRect">
            <a:avLst>
              <a:gd fmla="val 8667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7"/>
          <p:cNvSpPr/>
          <p:nvPr/>
        </p:nvSpPr>
        <p:spPr>
          <a:xfrm>
            <a:off x="6173763" y="3459138"/>
            <a:ext cx="2279390" cy="38706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us Jakarta San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&lt;10</a:t>
            </a: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7"/>
          <p:cNvSpPr/>
          <p:nvPr/>
        </p:nvSpPr>
        <p:spPr>
          <a:xfrm>
            <a:off x="6201777" y="3902792"/>
            <a:ext cx="2279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primera respuesta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67263"/>
            <a:ext cx="664369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7"/>
          <p:cNvSpPr/>
          <p:nvPr/>
        </p:nvSpPr>
        <p:spPr>
          <a:xfrm>
            <a:off x="8466200" y="4777978"/>
            <a:ext cx="144401" cy="12620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Plus Jakarta Sans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0E1E"/>
            </a:gs>
            <a:gs pos="100000">
              <a:srgbClr val="14336F"/>
            </a:gs>
          </a:gsLst>
          <a:lin ang="5400012" scaled="0"/>
        </a:gra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0" name="Google Shape;970;p50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 rot="-480000">
            <a:off x="-1238250" y="-951886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1" name="Google Shape;971;p50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 rot="359998">
            <a:off x="6762749" y="2880643"/>
            <a:ext cx="3714750" cy="3405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2" name="Google Shape;97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1452972"/>
            <a:ext cx="2362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3" name="Google Shape;97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2205447"/>
            <a:ext cx="4191000" cy="8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50"/>
          <p:cNvSpPr/>
          <p:nvPr/>
        </p:nvSpPr>
        <p:spPr>
          <a:xfrm>
            <a:off x="3731642" y="3335722"/>
            <a:ext cx="1680716" cy="354807"/>
          </a:xfrm>
          <a:prstGeom prst="roundRect">
            <a:avLst>
              <a:gd fmla="val 50000" name="adj"/>
            </a:avLst>
          </a:prstGeom>
          <a:solidFill>
            <a:srgbClr val="FFFFFF">
              <a:alpha val="5098"/>
            </a:srgbClr>
          </a:solidFill>
          <a:ln cap="flat" cmpd="sng" w="1905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0"/>
          <p:cNvSpPr/>
          <p:nvPr/>
        </p:nvSpPr>
        <p:spPr>
          <a:xfrm>
            <a:off x="3963607" y="3440497"/>
            <a:ext cx="1216788" cy="164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CONVERSEMOS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0"/>
          <p:cNvSpPr/>
          <p:nvPr/>
        </p:nvSpPr>
        <p:spPr>
          <a:xfrm>
            <a:off x="3699495" y="4762500"/>
            <a:ext cx="5072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lus Jakarta Sans"/>
              <a:buNone/>
            </a:pPr>
            <a:r>
              <a:rPr b="1" i="0" lang="en" sz="8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vambe.ai</a:t>
            </a:r>
            <a:endParaRPr b="0" i="0" sz="800" u="none" cap="none" strike="noStrike">
              <a:solidFill>
                <a:srgbClr val="779CE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50"/>
          <p:cNvSpPr/>
          <p:nvPr/>
        </p:nvSpPr>
        <p:spPr>
          <a:xfrm>
            <a:off x="4378188" y="4762500"/>
            <a:ext cx="7448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lus Jakarta Sans"/>
              <a:buNone/>
            </a:pPr>
            <a:r>
              <a:rPr b="1" i="0" lang="en" sz="8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</a:t>
            </a:r>
            <a:endParaRPr b="0" i="0" sz="800" u="none" cap="none" strike="noStrike">
              <a:solidFill>
                <a:srgbClr val="779CE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50"/>
          <p:cNvSpPr/>
          <p:nvPr/>
        </p:nvSpPr>
        <p:spPr>
          <a:xfrm>
            <a:off x="4624127" y="4762500"/>
            <a:ext cx="82037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Plus Jakarta Sans"/>
              <a:buNone/>
            </a:pPr>
            <a:r>
              <a:rPr b="1" i="0" lang="en" sz="800" u="none" cap="none" strike="noStrike">
                <a:solidFill>
                  <a:srgbClr val="779CE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hola@vambe.ai</a:t>
            </a:r>
            <a:endParaRPr b="0" i="0" sz="800" u="none" cap="none" strike="noStrike">
              <a:solidFill>
                <a:srgbClr val="779CE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